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image" Target="../media/image-1-16.png"/><Relationship Id="rId17" Type="http://schemas.openxmlformats.org/officeDocument/2006/relationships/image" Target="../media/image-1-17.svg"/><Relationship Id="rId18" Type="http://schemas.openxmlformats.org/officeDocument/2006/relationships/image" Target="../media/image-1-18.png"/><Relationship Id="rId19" Type="http://schemas.openxmlformats.org/officeDocument/2006/relationships/image" Target="../media/image-1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6.png"/><Relationship Id="rId17" Type="http://schemas.openxmlformats.org/officeDocument/2006/relationships/image" Target="../media/image-6-17.svg"/><Relationship Id="rId18" Type="http://schemas.openxmlformats.org/officeDocument/2006/relationships/image" Target="../media/image-6-18.png"/><Relationship Id="rId19" Type="http://schemas.openxmlformats.org/officeDocument/2006/relationships/image" Target="../media/image-6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50385" y="-564840"/>
            <a:ext cx="2924175" cy="2924175"/>
          </a:xfrm>
          <a:prstGeom prst="ellipse">
            <a:avLst/>
          </a:prstGeom>
          <a:ln w="4763">
            <a:solidFill>
              <a:srgbClr val="0A9389">
                <a:alpha val="10196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8556" y="-308149"/>
            <a:ext cx="1919287" cy="1919287"/>
          </a:xfrm>
          <a:prstGeom prst="ellipse">
            <a:avLst/>
          </a:prstGeom>
          <a:ln w="4763">
            <a:solidFill>
              <a:srgbClr val="0A9389">
                <a:alpha val="1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6" name="Shape 3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06242"/>
          </a:solidFill>
          <a:ln/>
        </p:spPr>
      </p:sp>
      <p:sp>
        <p:nvSpPr>
          <p:cNvPr id="7" name="Text 4"/>
          <p:cNvSpPr/>
          <p:nvPr/>
        </p:nvSpPr>
        <p:spPr>
          <a:xfrm>
            <a:off x="639961" y="229046"/>
            <a:ext cx="14835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analytics</a:t>
            </a:r>
            <a:endParaRPr lang="en-US" sz="860" dirty="0"/>
          </a:p>
        </p:txBody>
      </p:sp>
      <p:sp>
        <p:nvSpPr>
          <p:cNvPr id="8" name="Text 5"/>
          <p:cNvSpPr/>
          <p:nvPr/>
        </p:nvSpPr>
        <p:spPr>
          <a:xfrm>
            <a:off x="7365727" y="238051"/>
            <a:ext cx="133873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8534400" y="238051"/>
            <a:ext cx="3741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365745" y="932631"/>
            <a:ext cx="225146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spc="69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PROJECT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365745" y="1096268"/>
            <a:ext cx="4428269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162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65745" y="1580852"/>
            <a:ext cx="242066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162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65745" y="2225427"/>
            <a:ext cx="39331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analysis and Power BI storytelling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365001" y="2617440"/>
            <a:ext cx="2324100" cy="1057275"/>
          </a:xfrm>
          <a:prstGeom prst="roundRect">
            <a:avLst>
              <a:gd name="adj" fmla="val 8649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53343" y="2764929"/>
            <a:ext cx="180666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080" b="1" spc="54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ENGINE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553343" y="3031554"/>
            <a:ext cx="156762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580" dirty="0"/>
          </a:p>
        </p:txBody>
      </p:sp>
      <p:sp>
        <p:nvSpPr>
          <p:cNvPr id="17" name="Text 14"/>
          <p:cNvSpPr/>
          <p:nvPr/>
        </p:nvSpPr>
        <p:spPr>
          <a:xfrm>
            <a:off x="553343" y="3359646"/>
            <a:ext cx="196105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· cleaning · trends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2870448" y="2617440"/>
            <a:ext cx="2324100" cy="1057275"/>
          </a:xfrm>
          <a:prstGeom prst="roundRect">
            <a:avLst>
              <a:gd name="adj" fmla="val 8649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058790" y="2764929"/>
            <a:ext cx="19196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080" b="1" spc="54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SURFACE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3058790" y="3031554"/>
            <a:ext cx="117051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580" dirty="0"/>
          </a:p>
        </p:txBody>
      </p:sp>
      <p:sp>
        <p:nvSpPr>
          <p:cNvPr id="21" name="Text 18"/>
          <p:cNvSpPr/>
          <p:nvPr/>
        </p:nvSpPr>
        <p:spPr>
          <a:xfrm>
            <a:off x="3058790" y="3359646"/>
            <a:ext cx="204086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· KPIs · exploration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365745" y="3899148"/>
            <a:ext cx="31679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Bhushan Ubarhande </a:t>
            </a:r>
            <a:pPr algn="l" indent="0" marL="0">
              <a:buNone/>
            </a:pPr>
            <a:r>
              <a:rPr lang="en-US" sz="108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spcBef>
                <a:spcPts val="1620"/>
              </a:spcBef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Analyst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559177" y="701836"/>
            <a:ext cx="3219450" cy="3600450"/>
          </a:xfrm>
          <a:prstGeom prst="roundRect">
            <a:avLst>
              <a:gd name="adj" fmla="val 2840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765453" y="968201"/>
            <a:ext cx="156123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 intelligence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8273355" y="907628"/>
            <a:ext cx="300038" cy="257175"/>
          </a:xfrm>
          <a:prstGeom prst="roundRect">
            <a:avLst>
              <a:gd name="adj" fmla="val 50000"/>
            </a:avLst>
          </a:prstGeom>
          <a:solidFill>
            <a:srgbClr val="E3F2EF"/>
          </a:solidFill>
          <a:ln/>
        </p:spPr>
      </p:sp>
      <p:sp>
        <p:nvSpPr>
          <p:cNvPr id="26" name="Text 23"/>
          <p:cNvSpPr/>
          <p:nvPr/>
        </p:nvSpPr>
        <p:spPr>
          <a:xfrm>
            <a:off x="8347546" y="952426"/>
            <a:ext cx="25430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5766346" y="1453381"/>
            <a:ext cx="2805112" cy="1490663"/>
          </a:xfrm>
          <a:prstGeom prst="roundRect">
            <a:avLst>
              <a:gd name="adj" fmla="val 4907"/>
            </a:avLst>
          </a:prstGeom>
          <a:solidFill>
            <a:srgbClr val="DDEBE8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5766346" y="1453381"/>
            <a:ext cx="2805112" cy="1490663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346" y="1453381"/>
            <a:ext cx="2805112" cy="149066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902598" y="2680767"/>
            <a:ext cx="266008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bean to business insight</a:t>
            </a:r>
            <a:endParaRPr lang="en-US" sz="1080" dirty="0"/>
          </a:p>
        </p:txBody>
      </p:sp>
      <p:sp>
        <p:nvSpPr>
          <p:cNvPr id="31" name="Shape 26"/>
          <p:cNvSpPr/>
          <p:nvPr/>
        </p:nvSpPr>
        <p:spPr>
          <a:xfrm>
            <a:off x="5766346" y="3233514"/>
            <a:ext cx="2805112" cy="862012"/>
          </a:xfrm>
          <a:prstGeom prst="rect">
            <a:avLst/>
          </a:prstGeom>
          <a:ln/>
        </p:spPr>
      </p:sp>
      <p:sp>
        <p:nvSpPr>
          <p:cNvPr id="32" name="Text 27"/>
          <p:cNvSpPr/>
          <p:nvPr/>
        </p:nvSpPr>
        <p:spPr>
          <a:xfrm>
            <a:off x="5765453" y="3354586"/>
            <a:ext cx="208459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across the assortment</a:t>
            </a:r>
            <a:endParaRPr lang="en-US" sz="860" dirty="0"/>
          </a:p>
        </p:txBody>
      </p:sp>
      <p:sp>
        <p:nvSpPr>
          <p:cNvPr id="33" name="Shape 28"/>
          <p:cNvSpPr/>
          <p:nvPr/>
        </p:nvSpPr>
        <p:spPr>
          <a:xfrm>
            <a:off x="5766346" y="3581995"/>
            <a:ext cx="2805112" cy="514350"/>
          </a:xfrm>
          <a:prstGeom prst="rect">
            <a:avLst/>
          </a:prstGeom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65043" y="3883633"/>
            <a:ext cx="647700" cy="161925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85074" y="3803749"/>
            <a:ext cx="647700" cy="242888"/>
          </a:xfrm>
          <a:prstGeom prst="rect">
            <a:avLst/>
          </a:prstGeom>
        </p:spPr>
      </p:pic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5104" y="3712108"/>
            <a:ext cx="647700" cy="333375"/>
          </a:xfrm>
          <a:prstGeom prst="rect">
            <a:avLst/>
          </a:prstGeom>
        </p:spPr>
      </p:pic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25135" y="3618123"/>
            <a:ext cx="647700" cy="428625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366713" y="4507483"/>
            <a:ext cx="8410575" cy="314325"/>
          </a:xfrm>
          <a:prstGeom prst="rect">
            <a:avLst/>
          </a:prstGeom>
          <a:ln/>
        </p:spPr>
      </p:sp>
      <p:sp>
        <p:nvSpPr>
          <p:cNvPr id="39" name="Text 30"/>
          <p:cNvSpPr/>
          <p:nvPr/>
        </p:nvSpPr>
        <p:spPr>
          <a:xfrm>
            <a:off x="365745" y="4634657"/>
            <a:ext cx="2200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080" dirty="0"/>
          </a:p>
        </p:txBody>
      </p:sp>
      <p:sp>
        <p:nvSpPr>
          <p:cNvPr id="40" name="Text 31"/>
          <p:cNvSpPr/>
          <p:nvPr/>
        </p:nvSpPr>
        <p:spPr>
          <a:xfrm>
            <a:off x="5889278" y="4634657"/>
            <a:ext cx="381282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</a:t>
            </a:r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Power BI </a:t>
            </a:r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Portfolio Project</a:t>
            </a:r>
            <a:endParaRPr lang="en-US" sz="108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66346" y="3233514"/>
            <a:ext cx="2805112" cy="862012"/>
          </a:xfrm>
          <a:prstGeom prst="rect">
            <a:avLst/>
          </a:prstGeom>
        </p:spPr>
      </p:pic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66346" y="3581995"/>
            <a:ext cx="2805112" cy="514350"/>
          </a:xfrm>
          <a:prstGeom prst="rect">
            <a:avLst/>
          </a:prstGeom>
        </p:spPr>
      </p:pic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6713" y="4507483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06242"/>
          </a:solidFill>
          <a:ln/>
        </p:spPr>
      </p:sp>
      <p:sp>
        <p:nvSpPr>
          <p:cNvPr id="5" name="Text 2"/>
          <p:cNvSpPr/>
          <p:nvPr/>
        </p:nvSpPr>
        <p:spPr>
          <a:xfrm>
            <a:off x="639961" y="229046"/>
            <a:ext cx="14835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analytics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7272933" y="238051"/>
            <a:ext cx="14593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534400" y="238051"/>
            <a:ext cx="3741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365745" y="716087"/>
            <a:ext cx="17594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spc="69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365745" y="889248"/>
            <a:ext cx="3655911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11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data to</a:t>
            </a:r>
            <a:endParaRPr lang="en-US" sz="2880" dirty="0"/>
          </a:p>
        </p:txBody>
      </p:sp>
      <p:sp>
        <p:nvSpPr>
          <p:cNvPr id="10" name="Text 7"/>
          <p:cNvSpPr/>
          <p:nvPr/>
        </p:nvSpPr>
        <p:spPr>
          <a:xfrm>
            <a:off x="365745" y="1284238"/>
            <a:ext cx="356488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11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decisions</a:t>
            </a:r>
            <a:endParaRPr lang="en-US" sz="2880" dirty="0"/>
          </a:p>
        </p:txBody>
      </p:sp>
      <p:sp>
        <p:nvSpPr>
          <p:cNvPr id="11" name="Text 8"/>
          <p:cNvSpPr/>
          <p:nvPr/>
        </p:nvSpPr>
        <p:spPr>
          <a:xfrm>
            <a:off x="365745" y="1829693"/>
            <a:ext cx="4115224" cy="433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9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path from beverage data to</a:t>
            </a:r>
            <a:endParaRPr lang="en-US" sz="1300" dirty="0"/>
          </a:p>
          <a:p>
            <a:pPr algn="l" indent="0" marL="0">
              <a:lnSpc>
                <a:spcPts val="1879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understanding.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261" y="2493318"/>
            <a:ext cx="4024312" cy="633412"/>
          </a:xfrm>
          <a:prstGeom prst="roundRect">
            <a:avLst>
              <a:gd name="adj" fmla="val 12992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7057" y="2590354"/>
            <a:ext cx="257175" cy="257175"/>
          </a:xfrm>
          <a:prstGeom prst="ellipse">
            <a:avLst/>
          </a:prstGeom>
          <a:solidFill>
            <a:srgbClr val="E3F2EF"/>
          </a:solidFill>
          <a:ln/>
        </p:spPr>
      </p:sp>
      <p:sp>
        <p:nvSpPr>
          <p:cNvPr id="14" name="Text 11"/>
          <p:cNvSpPr/>
          <p:nvPr/>
        </p:nvSpPr>
        <p:spPr>
          <a:xfrm>
            <a:off x="559817" y="2635151"/>
            <a:ext cx="25430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882476" y="2606325"/>
            <a:ext cx="4145793" cy="40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beverage performance, product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trends, and business patterns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261" y="3198093"/>
            <a:ext cx="4024312" cy="633412"/>
          </a:xfrm>
          <a:prstGeom prst="roundRect">
            <a:avLst>
              <a:gd name="adj" fmla="val 12992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7057" y="3295129"/>
            <a:ext cx="257175" cy="257175"/>
          </a:xfrm>
          <a:prstGeom prst="ellipse">
            <a:avLst/>
          </a:prstGeom>
          <a:solidFill>
            <a:srgbClr val="E3F2EF"/>
          </a:solidFill>
          <a:ln/>
        </p:spPr>
      </p:sp>
      <p:sp>
        <p:nvSpPr>
          <p:cNvPr id="18" name="Text 15"/>
          <p:cNvSpPr/>
          <p:nvPr/>
        </p:nvSpPr>
        <p:spPr>
          <a:xfrm>
            <a:off x="546199" y="3339926"/>
            <a:ext cx="2897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882476" y="3311101"/>
            <a:ext cx="3832168" cy="40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SQL-driven analysis with an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Power BI dashboard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261" y="3902869"/>
            <a:ext cx="4024312" cy="633412"/>
          </a:xfrm>
          <a:prstGeom prst="roundRect">
            <a:avLst>
              <a:gd name="adj" fmla="val 12992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7057" y="3999905"/>
            <a:ext cx="257175" cy="257175"/>
          </a:xfrm>
          <a:prstGeom prst="ellipse">
            <a:avLst/>
          </a:prstGeom>
          <a:solidFill>
            <a:srgbClr val="E3F2EF"/>
          </a:solidFill>
          <a:ln/>
        </p:spPr>
      </p:sp>
      <p:sp>
        <p:nvSpPr>
          <p:cNvPr id="22" name="Text 19"/>
          <p:cNvSpPr/>
          <p:nvPr/>
        </p:nvSpPr>
        <p:spPr>
          <a:xfrm>
            <a:off x="545083" y="4044702"/>
            <a:ext cx="29251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882476" y="4015876"/>
            <a:ext cx="4297479" cy="40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complex transactional and nutritional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into a clear decision surface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389" y="1204392"/>
            <a:ext cx="4024312" cy="2828925"/>
          </a:xfrm>
          <a:prstGeom prst="roundRect">
            <a:avLst>
              <a:gd name="adj" fmla="val 3232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83835" y="750987"/>
            <a:ext cx="1647825" cy="1647825"/>
          </a:xfrm>
          <a:prstGeom prst="ellipse">
            <a:avLst/>
          </a:prstGeom>
          <a:ln w="4763">
            <a:solidFill>
              <a:srgbClr val="0D9486">
                <a:alpha val="14902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33888" y="1497732"/>
            <a:ext cx="8398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LENS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5033888" y="1728043"/>
            <a:ext cx="3556948" cy="595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173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</a:t>
            </a:r>
            <a:pPr algn="l" indent="0" marL="0">
              <a:lnSpc>
                <a:spcPts val="2592"/>
              </a:lnSpc>
              <a:buNone/>
            </a:pPr>
            <a:r>
              <a:rPr lang="en-US" sz="17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pPr algn="l" indent="0" marL="0">
              <a:lnSpc>
                <a:spcPts val="2592"/>
              </a:lnSpc>
              <a:buNone/>
            </a:pPr>
            <a:r>
              <a:rPr lang="en-US" sz="173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product </a:t>
            </a:r>
            <a:pPr algn="l" indent="0" marL="0">
              <a:lnSpc>
                <a:spcPts val="2592"/>
              </a:lnSpc>
              <a:buNone/>
            </a:pPr>
            <a:r>
              <a:rPr lang="en-US" sz="17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730" dirty="0"/>
          </a:p>
          <a:p>
            <a:pPr algn="l" indent="0" marL="0">
              <a:lnSpc>
                <a:spcPts val="2592"/>
              </a:lnSpc>
              <a:buNone/>
            </a:pPr>
            <a:r>
              <a:rPr lang="en-US" sz="173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730" dirty="0"/>
          </a:p>
        </p:txBody>
      </p:sp>
      <p:sp>
        <p:nvSpPr>
          <p:cNvPr id="28" name="Shape 25"/>
          <p:cNvSpPr/>
          <p:nvPr/>
        </p:nvSpPr>
        <p:spPr>
          <a:xfrm>
            <a:off x="5032995" y="2358665"/>
            <a:ext cx="3467100" cy="1962150"/>
          </a:xfrm>
          <a:prstGeom prst="rect">
            <a:avLst/>
          </a:prstGeom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735" y="3541216"/>
            <a:ext cx="800100" cy="719137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1908" y="3232100"/>
            <a:ext cx="800100" cy="1028700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1082" y="2923022"/>
            <a:ext cx="800100" cy="1338262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00256" y="2613943"/>
            <a:ext cx="800100" cy="164782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33888" y="4340796"/>
            <a:ext cx="3743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</a:t>
            </a:r>
            <a:endParaRPr lang="en-US" sz="1080" dirty="0"/>
          </a:p>
        </p:txBody>
      </p:sp>
      <p:sp>
        <p:nvSpPr>
          <p:cNvPr id="34" name="Text 27"/>
          <p:cNvSpPr/>
          <p:nvPr/>
        </p:nvSpPr>
        <p:spPr>
          <a:xfrm>
            <a:off x="5950000" y="4340796"/>
            <a:ext cx="51994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1080" dirty="0"/>
          </a:p>
        </p:txBody>
      </p:sp>
      <p:sp>
        <p:nvSpPr>
          <p:cNvPr id="35" name="Text 28"/>
          <p:cNvSpPr/>
          <p:nvPr/>
        </p:nvSpPr>
        <p:spPr>
          <a:xfrm>
            <a:off x="6978104" y="4340796"/>
            <a:ext cx="5831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1080" dirty="0"/>
          </a:p>
        </p:txBody>
      </p:sp>
      <p:sp>
        <p:nvSpPr>
          <p:cNvPr id="36" name="Text 29"/>
          <p:cNvSpPr/>
          <p:nvPr/>
        </p:nvSpPr>
        <p:spPr>
          <a:xfrm>
            <a:off x="8054801" y="4340796"/>
            <a:ext cx="63487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</a:t>
            </a:r>
            <a:endParaRPr lang="en-US" sz="1080" dirty="0"/>
          </a:p>
        </p:txBody>
      </p:sp>
      <p:sp>
        <p:nvSpPr>
          <p:cNvPr id="37" name="Shape 30"/>
          <p:cNvSpPr/>
          <p:nvPr/>
        </p:nvSpPr>
        <p:spPr>
          <a:xfrm>
            <a:off x="366713" y="4507483"/>
            <a:ext cx="8410575" cy="314325"/>
          </a:xfrm>
          <a:prstGeom prst="rect">
            <a:avLst/>
          </a:prstGeom>
          <a:ln/>
        </p:spPr>
      </p:sp>
      <p:sp>
        <p:nvSpPr>
          <p:cNvPr id="38" name="Text 31"/>
          <p:cNvSpPr/>
          <p:nvPr/>
        </p:nvSpPr>
        <p:spPr>
          <a:xfrm>
            <a:off x="365745" y="4634657"/>
            <a:ext cx="2200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080" dirty="0"/>
          </a:p>
        </p:txBody>
      </p:sp>
      <p:sp>
        <p:nvSpPr>
          <p:cNvPr id="39" name="Text 32"/>
          <p:cNvSpPr/>
          <p:nvPr/>
        </p:nvSpPr>
        <p:spPr>
          <a:xfrm>
            <a:off x="8326338" y="4634657"/>
            <a:ext cx="6446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</a:t>
            </a:r>
            <a:endParaRPr lang="en-US" sz="108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32995" y="2358665"/>
            <a:ext cx="3467100" cy="1962150"/>
          </a:xfrm>
          <a:prstGeom prst="rect">
            <a:avLst/>
          </a:prstGeom>
        </p:spPr>
      </p:pic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6713" y="4507483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06242"/>
          </a:solidFill>
          <a:ln/>
        </p:spPr>
      </p:sp>
      <p:sp>
        <p:nvSpPr>
          <p:cNvPr id="5" name="Text 2"/>
          <p:cNvSpPr/>
          <p:nvPr/>
        </p:nvSpPr>
        <p:spPr>
          <a:xfrm>
            <a:off x="639961" y="229046"/>
            <a:ext cx="14835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analytics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7273230" y="238051"/>
            <a:ext cx="145898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QUESTIONS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534400" y="238051"/>
            <a:ext cx="3741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365745" y="1484412"/>
            <a:ext cx="343970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QUESTIONS BEHIND THE DASHBOARD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365745" y="1489918"/>
            <a:ext cx="1858514" cy="1438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9360" b="1" spc="-749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360" dirty="0"/>
          </a:p>
        </p:txBody>
      </p:sp>
      <p:sp>
        <p:nvSpPr>
          <p:cNvPr id="10" name="Text 7"/>
          <p:cNvSpPr/>
          <p:nvPr/>
        </p:nvSpPr>
        <p:spPr>
          <a:xfrm>
            <a:off x="365745" y="2857054"/>
            <a:ext cx="2811773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questions connect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performance to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choice.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949638" y="890774"/>
            <a:ext cx="4829175" cy="528638"/>
          </a:xfrm>
          <a:prstGeom prst="roundRect">
            <a:avLst>
              <a:gd name="adj" fmla="val 15568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37794" y="1025947"/>
            <a:ext cx="35945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60" dirty="0"/>
          </a:p>
        </p:txBody>
      </p:sp>
      <p:sp>
        <p:nvSpPr>
          <p:cNvPr id="13" name="Text 10"/>
          <p:cNvSpPr/>
          <p:nvPr/>
        </p:nvSpPr>
        <p:spPr>
          <a:xfrm>
            <a:off x="4507483" y="1045518"/>
            <a:ext cx="521417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products and categories perform best?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3949638" y="1493379"/>
            <a:ext cx="4829175" cy="528638"/>
          </a:xfrm>
          <a:prstGeom prst="roundRect">
            <a:avLst>
              <a:gd name="adj" fmla="val 15568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137794" y="1628552"/>
            <a:ext cx="41372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60" dirty="0"/>
          </a:p>
        </p:txBody>
      </p:sp>
      <p:sp>
        <p:nvSpPr>
          <p:cNvPr id="16" name="Text 13"/>
          <p:cNvSpPr/>
          <p:nvPr/>
        </p:nvSpPr>
        <p:spPr>
          <a:xfrm>
            <a:off x="4549229" y="1648123"/>
            <a:ext cx="422492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sales trends emerge over time?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3949638" y="2095426"/>
            <a:ext cx="4829175" cy="671513"/>
          </a:xfrm>
          <a:prstGeom prst="roundRect">
            <a:avLst>
              <a:gd name="adj" fmla="val 12255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137794" y="2301999"/>
            <a:ext cx="41798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60" dirty="0"/>
          </a:p>
        </p:txBody>
      </p:sp>
      <p:sp>
        <p:nvSpPr>
          <p:cNvPr id="19" name="Text 16"/>
          <p:cNvSpPr/>
          <p:nvPr/>
        </p:nvSpPr>
        <p:spPr>
          <a:xfrm>
            <a:off x="4552504" y="2211916"/>
            <a:ext cx="5164061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stores or locations contribute the most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revenue?</a:t>
            </a:r>
            <a:endParaRPr lang="en-US" sz="1440" dirty="0"/>
          </a:p>
        </p:txBody>
      </p:sp>
      <p:sp>
        <p:nvSpPr>
          <p:cNvPr id="20" name="Shape 17"/>
          <p:cNvSpPr/>
          <p:nvPr/>
        </p:nvSpPr>
        <p:spPr>
          <a:xfrm>
            <a:off x="3949638" y="2840348"/>
            <a:ext cx="4829175" cy="528638"/>
          </a:xfrm>
          <a:prstGeom prst="roundRect">
            <a:avLst>
              <a:gd name="adj" fmla="val 15568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137794" y="2975521"/>
            <a:ext cx="426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60" dirty="0"/>
          </a:p>
        </p:txBody>
      </p:sp>
      <p:sp>
        <p:nvSpPr>
          <p:cNvPr id="22" name="Text 19"/>
          <p:cNvSpPr/>
          <p:nvPr/>
        </p:nvSpPr>
        <p:spPr>
          <a:xfrm>
            <a:off x="4558978" y="2995092"/>
            <a:ext cx="343525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are peak sales periods?</a:t>
            </a:r>
            <a:endParaRPr lang="en-US" sz="1440" dirty="0"/>
          </a:p>
        </p:txBody>
      </p:sp>
      <p:sp>
        <p:nvSpPr>
          <p:cNvPr id="23" name="Shape 20"/>
          <p:cNvSpPr/>
          <p:nvPr/>
        </p:nvSpPr>
        <p:spPr>
          <a:xfrm>
            <a:off x="3949638" y="3442395"/>
            <a:ext cx="4829175" cy="671513"/>
          </a:xfrm>
          <a:prstGeom prst="roundRect">
            <a:avLst>
              <a:gd name="adj" fmla="val 12255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137794" y="3648968"/>
            <a:ext cx="41159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60" dirty="0"/>
          </a:p>
        </p:txBody>
      </p:sp>
      <p:sp>
        <p:nvSpPr>
          <p:cNvPr id="25" name="Text 22"/>
          <p:cNvSpPr/>
          <p:nvPr/>
        </p:nvSpPr>
        <p:spPr>
          <a:xfrm>
            <a:off x="4547592" y="3558885"/>
            <a:ext cx="4809031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can product strategy and customer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choice improve?</a:t>
            </a:r>
            <a:endParaRPr lang="en-US" sz="1440" dirty="0"/>
          </a:p>
        </p:txBody>
      </p:sp>
      <p:sp>
        <p:nvSpPr>
          <p:cNvPr id="26" name="Shape 23"/>
          <p:cNvSpPr/>
          <p:nvPr/>
        </p:nvSpPr>
        <p:spPr>
          <a:xfrm>
            <a:off x="366713" y="4507483"/>
            <a:ext cx="8410575" cy="314325"/>
          </a:xfrm>
          <a:prstGeom prst="rect">
            <a:avLst/>
          </a:prstGeom>
          <a:ln/>
        </p:spPr>
      </p:sp>
      <p:sp>
        <p:nvSpPr>
          <p:cNvPr id="27" name="Text 24"/>
          <p:cNvSpPr/>
          <p:nvPr/>
        </p:nvSpPr>
        <p:spPr>
          <a:xfrm>
            <a:off x="365745" y="4634657"/>
            <a:ext cx="2200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8324850" y="4634657"/>
            <a:ext cx="6465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3</a:t>
            </a:r>
            <a:endParaRPr lang="en-US" sz="108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07483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06242"/>
          </a:solidFill>
          <a:ln/>
        </p:spPr>
      </p:sp>
      <p:sp>
        <p:nvSpPr>
          <p:cNvPr id="5" name="Text 2"/>
          <p:cNvSpPr/>
          <p:nvPr/>
        </p:nvSpPr>
        <p:spPr>
          <a:xfrm>
            <a:off x="639961" y="229046"/>
            <a:ext cx="14835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analytics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7299499" y="238051"/>
            <a:ext cx="14248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WORKFLOW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534400" y="238051"/>
            <a:ext cx="3741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365745" y="716087"/>
            <a:ext cx="321681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REPEATABLE ANALYTICS WORKFLOW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365745" y="960686"/>
            <a:ext cx="484085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590" b="1" spc="-104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dataset to decision</a:t>
            </a:r>
            <a:endParaRPr lang="en-US" sz="2590" dirty="0"/>
          </a:p>
        </p:txBody>
      </p:sp>
      <p:sp>
        <p:nvSpPr>
          <p:cNvPr id="10" name="Shape 7"/>
          <p:cNvSpPr/>
          <p:nvPr/>
        </p:nvSpPr>
        <p:spPr>
          <a:xfrm>
            <a:off x="366787" y="1668959"/>
            <a:ext cx="2005012" cy="1481137"/>
          </a:xfrm>
          <a:prstGeom prst="roundRect">
            <a:avLst>
              <a:gd name="adj" fmla="val 555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16806" y="1838920"/>
            <a:ext cx="25430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516806" y="2255044"/>
            <a:ext cx="1412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dataset</a:t>
            </a:r>
            <a:endParaRPr lang="en-US" sz="1370" dirty="0"/>
          </a:p>
        </p:txBody>
      </p:sp>
      <p:sp>
        <p:nvSpPr>
          <p:cNvPr id="13" name="Text 10"/>
          <p:cNvSpPr/>
          <p:nvPr/>
        </p:nvSpPr>
        <p:spPr>
          <a:xfrm>
            <a:off x="516806" y="2551956"/>
            <a:ext cx="13483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records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2501912" y="1668959"/>
            <a:ext cx="2005012" cy="1481137"/>
          </a:xfrm>
          <a:prstGeom prst="roundRect">
            <a:avLst>
              <a:gd name="adj" fmla="val 555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651894" y="1838920"/>
            <a:ext cx="2897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2651894" y="2255044"/>
            <a:ext cx="2033900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preparation</a:t>
            </a:r>
            <a:endParaRPr lang="en-US" sz="1370" dirty="0"/>
          </a:p>
        </p:txBody>
      </p:sp>
      <p:sp>
        <p:nvSpPr>
          <p:cNvPr id="17" name="Text 14"/>
          <p:cNvSpPr/>
          <p:nvPr/>
        </p:nvSpPr>
        <p:spPr>
          <a:xfrm>
            <a:off x="2651894" y="2812554"/>
            <a:ext cx="137965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the input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4637038" y="1668959"/>
            <a:ext cx="2005012" cy="1481137"/>
          </a:xfrm>
          <a:prstGeom prst="roundRect">
            <a:avLst>
              <a:gd name="adj" fmla="val 555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87057" y="1838920"/>
            <a:ext cx="29251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4787057" y="2255044"/>
            <a:ext cx="1361472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370" dirty="0"/>
          </a:p>
        </p:txBody>
      </p:sp>
      <p:sp>
        <p:nvSpPr>
          <p:cNvPr id="21" name="Text 18"/>
          <p:cNvSpPr/>
          <p:nvPr/>
        </p:nvSpPr>
        <p:spPr>
          <a:xfrm>
            <a:off x="4787057" y="2812554"/>
            <a:ext cx="13904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the model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772163" y="1668959"/>
            <a:ext cx="2005012" cy="1481137"/>
          </a:xfrm>
          <a:prstGeom prst="roundRect">
            <a:avLst>
              <a:gd name="adj" fmla="val 555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922145" y="1838920"/>
            <a:ext cx="2980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6922145" y="2255044"/>
            <a:ext cx="2025387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queries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analysis</a:t>
            </a:r>
            <a:endParaRPr lang="en-US" sz="1370" dirty="0"/>
          </a:p>
        </p:txBody>
      </p:sp>
      <p:sp>
        <p:nvSpPr>
          <p:cNvPr id="25" name="Text 22"/>
          <p:cNvSpPr/>
          <p:nvPr/>
        </p:nvSpPr>
        <p:spPr>
          <a:xfrm>
            <a:off x="6922145" y="2812554"/>
            <a:ext cx="17920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better questions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366787" y="3278386"/>
            <a:ext cx="2005012" cy="1481137"/>
          </a:xfrm>
          <a:prstGeom prst="roundRect">
            <a:avLst>
              <a:gd name="adj" fmla="val 555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16806" y="3448348"/>
            <a:ext cx="2883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516806" y="3864471"/>
            <a:ext cx="1560269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data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1370" dirty="0"/>
          </a:p>
        </p:txBody>
      </p:sp>
      <p:sp>
        <p:nvSpPr>
          <p:cNvPr id="29" name="Text 26"/>
          <p:cNvSpPr/>
          <p:nvPr/>
        </p:nvSpPr>
        <p:spPr>
          <a:xfrm>
            <a:off x="516806" y="4421981"/>
            <a:ext cx="15270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the view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2501912" y="3278386"/>
            <a:ext cx="2005012" cy="1481137"/>
          </a:xfrm>
          <a:prstGeom prst="roundRect">
            <a:avLst>
              <a:gd name="adj" fmla="val 555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651894" y="3448348"/>
            <a:ext cx="29319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2651894" y="3864471"/>
            <a:ext cx="2155210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measures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</a:t>
            </a:r>
            <a:endParaRPr lang="en-US" sz="1370" dirty="0"/>
          </a:p>
        </p:txBody>
      </p:sp>
      <p:sp>
        <p:nvSpPr>
          <p:cNvPr id="33" name="Text 30"/>
          <p:cNvSpPr/>
          <p:nvPr/>
        </p:nvSpPr>
        <p:spPr>
          <a:xfrm>
            <a:off x="2651894" y="4421981"/>
            <a:ext cx="147146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signal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4637038" y="3278386"/>
            <a:ext cx="2005012" cy="1481137"/>
          </a:xfrm>
          <a:prstGeom prst="roundRect">
            <a:avLst>
              <a:gd name="adj" fmla="val 555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787057" y="3448348"/>
            <a:ext cx="27761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4787057" y="3864471"/>
            <a:ext cx="1240453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370" dirty="0"/>
          </a:p>
        </p:txBody>
      </p:sp>
      <p:sp>
        <p:nvSpPr>
          <p:cNvPr id="37" name="Text 34"/>
          <p:cNvSpPr/>
          <p:nvPr/>
        </p:nvSpPr>
        <p:spPr>
          <a:xfrm>
            <a:off x="4787057" y="4421981"/>
            <a:ext cx="166213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 pattern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6772163" y="3278386"/>
            <a:ext cx="2005012" cy="1481137"/>
          </a:xfrm>
          <a:prstGeom prst="roundRect">
            <a:avLst>
              <a:gd name="adj" fmla="val 5556"/>
            </a:avLst>
          </a:prstGeom>
          <a:solidFill>
            <a:srgbClr val="E3F2EF"/>
          </a:solidFill>
          <a:ln/>
        </p:spPr>
      </p:sp>
      <p:sp>
        <p:nvSpPr>
          <p:cNvPr id="39" name="Text 36"/>
          <p:cNvSpPr/>
          <p:nvPr/>
        </p:nvSpPr>
        <p:spPr>
          <a:xfrm>
            <a:off x="6917382" y="3443585"/>
            <a:ext cx="2934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6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80" dirty="0"/>
          </a:p>
        </p:txBody>
      </p:sp>
      <p:sp>
        <p:nvSpPr>
          <p:cNvPr id="40" name="Text 37"/>
          <p:cNvSpPr/>
          <p:nvPr/>
        </p:nvSpPr>
        <p:spPr>
          <a:xfrm>
            <a:off x="6917382" y="3859709"/>
            <a:ext cx="199636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370" b="1" dirty="0">
                <a:solidFill>
                  <a:srgbClr val="006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insights</a:t>
            </a:r>
            <a:endParaRPr lang="en-US" sz="1370" dirty="0"/>
          </a:p>
        </p:txBody>
      </p:sp>
      <p:sp>
        <p:nvSpPr>
          <p:cNvPr id="41" name="Text 38"/>
          <p:cNvSpPr/>
          <p:nvPr/>
        </p:nvSpPr>
        <p:spPr>
          <a:xfrm>
            <a:off x="6917382" y="4156621"/>
            <a:ext cx="17388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00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on the evidence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366713" y="4624015"/>
            <a:ext cx="8410575" cy="314325"/>
          </a:xfrm>
          <a:prstGeom prst="rect">
            <a:avLst/>
          </a:prstGeom>
          <a:ln/>
        </p:spPr>
      </p:sp>
      <p:sp>
        <p:nvSpPr>
          <p:cNvPr id="43" name="Text 40"/>
          <p:cNvSpPr/>
          <p:nvPr/>
        </p:nvSpPr>
        <p:spPr>
          <a:xfrm>
            <a:off x="365745" y="4751189"/>
            <a:ext cx="2200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080" dirty="0"/>
          </a:p>
        </p:txBody>
      </p:sp>
      <p:sp>
        <p:nvSpPr>
          <p:cNvPr id="44" name="Text 41"/>
          <p:cNvSpPr/>
          <p:nvPr/>
        </p:nvSpPr>
        <p:spPr>
          <a:xfrm>
            <a:off x="8320832" y="4751189"/>
            <a:ext cx="6518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4</a:t>
            </a:r>
            <a:endParaRPr lang="en-US" sz="108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24015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06242"/>
          </a:solidFill>
          <a:ln/>
        </p:spPr>
      </p:sp>
      <p:sp>
        <p:nvSpPr>
          <p:cNvPr id="5" name="Text 2"/>
          <p:cNvSpPr/>
          <p:nvPr/>
        </p:nvSpPr>
        <p:spPr>
          <a:xfrm>
            <a:off x="639961" y="229046"/>
            <a:ext cx="14835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analytics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7650063" y="238051"/>
            <a:ext cx="9691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534400" y="238051"/>
            <a:ext cx="3741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365745" y="935236"/>
            <a:ext cx="198582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ANALYSIS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365745" y="1108397"/>
            <a:ext cx="2204063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880" b="1" spc="-11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turns</a:t>
            </a:r>
            <a:endParaRPr lang="en-US" sz="2880" dirty="0"/>
          </a:p>
        </p:txBody>
      </p:sp>
      <p:sp>
        <p:nvSpPr>
          <p:cNvPr id="10" name="Text 7"/>
          <p:cNvSpPr/>
          <p:nvPr/>
        </p:nvSpPr>
        <p:spPr>
          <a:xfrm>
            <a:off x="365745" y="1503387"/>
            <a:ext cx="3720242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880" b="1" spc="-11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 into</a:t>
            </a:r>
            <a:endParaRPr lang="en-US" sz="2880" dirty="0"/>
          </a:p>
        </p:txBody>
      </p:sp>
      <p:sp>
        <p:nvSpPr>
          <p:cNvPr id="11" name="Text 8"/>
          <p:cNvSpPr/>
          <p:nvPr/>
        </p:nvSpPr>
        <p:spPr>
          <a:xfrm>
            <a:off x="365745" y="1898377"/>
            <a:ext cx="206891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880" b="1" spc="-11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2880" dirty="0"/>
          </a:p>
        </p:txBody>
      </p:sp>
      <p:sp>
        <p:nvSpPr>
          <p:cNvPr id="12" name="Text 9"/>
          <p:cNvSpPr/>
          <p:nvPr/>
        </p:nvSpPr>
        <p:spPr>
          <a:xfrm>
            <a:off x="365745" y="2443832"/>
            <a:ext cx="3945545" cy="672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9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database layer organizes the</a:t>
            </a:r>
            <a:endParaRPr lang="en-US" sz="1300" dirty="0"/>
          </a:p>
          <a:p>
            <a:pPr algn="l" indent="0" marL="0">
              <a:lnSpc>
                <a:spcPts val="1879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that the dashboard needs to</a:t>
            </a:r>
            <a:endParaRPr lang="en-US" sz="1300" dirty="0"/>
          </a:p>
          <a:p>
            <a:pPr algn="l" indent="0" marL="0">
              <a:lnSpc>
                <a:spcPts val="1879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261" y="3346438"/>
            <a:ext cx="4024312" cy="938212"/>
          </a:xfrm>
          <a:prstGeom prst="roundRect">
            <a:avLst>
              <a:gd name="adj" fmla="val 9746"/>
            </a:avLst>
          </a:prstGeom>
          <a:solidFill>
            <a:srgbClr val="102F2B"/>
          </a:solidFill>
          <a:ln/>
          <a:effectLst>
            <a:outerShdw sx="100000" sy="100000" kx="0" ky="0" algn="bl" rotWithShape="0" blurRad="182880" dist="73152" dir="5400000">
              <a:srgbClr val="102F2B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580" y="3548286"/>
            <a:ext cx="149700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7ED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FOCUS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48580" y="3851300"/>
            <a:ext cx="420944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729"/>
              </a:spcBef>
              <a:buNone/>
            </a:pPr>
            <a:r>
              <a:rPr lang="en-US" sz="1440" dirty="0">
                <a:solidFill>
                  <a:srgbClr val="D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</a:t>
            </a:r>
            <a:pPr algn="l" indent="0" marL="0">
              <a:buNone/>
            </a:pPr>
            <a:r>
              <a:rPr lang="en-US" sz="1440" dirty="0">
                <a:solidFill>
                  <a:srgbClr val="7ED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pPr algn="l" indent="0" marL="0">
              <a:spcBef>
                <a:spcPts val="729"/>
              </a:spcBef>
              <a:buNone/>
            </a:pPr>
            <a:r>
              <a:rPr lang="en-US" sz="1440" dirty="0">
                <a:solidFill>
                  <a:srgbClr val="D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category </a:t>
            </a:r>
            <a:pPr algn="l" indent="0" marL="0">
              <a:buNone/>
            </a:pPr>
            <a:r>
              <a:rPr lang="en-US" sz="1440" dirty="0">
                <a:solidFill>
                  <a:srgbClr val="7ED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pPr algn="l" indent="0" marL="0">
              <a:spcBef>
                <a:spcPts val="729"/>
              </a:spcBef>
              <a:buNone/>
            </a:pPr>
            <a:r>
              <a:rPr lang="en-US" sz="1440" dirty="0">
                <a:solidFill>
                  <a:srgbClr val="D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time </a:t>
            </a:r>
            <a:pPr algn="l" indent="0" marL="0">
              <a:buNone/>
            </a:pPr>
            <a:r>
              <a:rPr lang="en-US" sz="1440" dirty="0">
                <a:solidFill>
                  <a:srgbClr val="7ED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pPr algn="l" indent="0" marL="0">
              <a:spcBef>
                <a:spcPts val="729"/>
              </a:spcBef>
              <a:buNone/>
            </a:pPr>
            <a:r>
              <a:rPr lang="en-US" sz="1440" dirty="0">
                <a:solidFill>
                  <a:srgbClr val="D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location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4754389" y="702171"/>
            <a:ext cx="4024312" cy="704850"/>
          </a:xfrm>
          <a:prstGeom prst="roundRect">
            <a:avLst>
              <a:gd name="adj" fmla="val 1167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942433" y="817811"/>
            <a:ext cx="4769949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revenue and average transaction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1370" dirty="0"/>
          </a:p>
        </p:txBody>
      </p:sp>
      <p:sp>
        <p:nvSpPr>
          <p:cNvPr id="18" name="Shape 15"/>
          <p:cNvSpPr/>
          <p:nvPr/>
        </p:nvSpPr>
        <p:spPr>
          <a:xfrm>
            <a:off x="4754389" y="1480393"/>
            <a:ext cx="4024312" cy="442913"/>
          </a:xfrm>
          <a:prstGeom prst="roundRect">
            <a:avLst>
              <a:gd name="adj" fmla="val 18581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42433" y="1595363"/>
            <a:ext cx="47181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best-selling products and categories</a:t>
            </a:r>
            <a:endParaRPr lang="en-US" sz="1370" dirty="0"/>
          </a:p>
        </p:txBody>
      </p:sp>
      <p:sp>
        <p:nvSpPr>
          <p:cNvPr id="20" name="Shape 17"/>
          <p:cNvSpPr/>
          <p:nvPr/>
        </p:nvSpPr>
        <p:spPr>
          <a:xfrm>
            <a:off x="4754389" y="1997348"/>
            <a:ext cx="4024312" cy="442913"/>
          </a:xfrm>
          <a:prstGeom prst="roundRect">
            <a:avLst>
              <a:gd name="adj" fmla="val 18581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942433" y="2112318"/>
            <a:ext cx="45834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store and location performance</a:t>
            </a:r>
            <a:endParaRPr lang="en-US" sz="1370" dirty="0"/>
          </a:p>
        </p:txBody>
      </p:sp>
      <p:sp>
        <p:nvSpPr>
          <p:cNvPr id="22" name="Shape 19"/>
          <p:cNvSpPr/>
          <p:nvPr/>
        </p:nvSpPr>
        <p:spPr>
          <a:xfrm>
            <a:off x="4754389" y="2514302"/>
            <a:ext cx="4024312" cy="442913"/>
          </a:xfrm>
          <a:prstGeom prst="roundRect">
            <a:avLst>
              <a:gd name="adj" fmla="val 18581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942433" y="2629272"/>
            <a:ext cx="434217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monthly and daily sales trends</a:t>
            </a:r>
            <a:endParaRPr lang="en-US" sz="1370" dirty="0"/>
          </a:p>
        </p:txBody>
      </p:sp>
      <p:sp>
        <p:nvSpPr>
          <p:cNvPr id="24" name="Shape 21"/>
          <p:cNvSpPr/>
          <p:nvPr/>
        </p:nvSpPr>
        <p:spPr>
          <a:xfrm>
            <a:off x="4754389" y="3030587"/>
            <a:ext cx="4024312" cy="704850"/>
          </a:xfrm>
          <a:prstGeom prst="roundRect">
            <a:avLst>
              <a:gd name="adj" fmla="val 1167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942433" y="3146227"/>
            <a:ext cx="3760582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Examine transaction patterns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purchasing behavior</a:t>
            </a:r>
            <a:endParaRPr lang="en-US" sz="1370" dirty="0"/>
          </a:p>
        </p:txBody>
      </p:sp>
      <p:sp>
        <p:nvSpPr>
          <p:cNvPr id="26" name="Shape 23"/>
          <p:cNvSpPr/>
          <p:nvPr/>
        </p:nvSpPr>
        <p:spPr>
          <a:xfrm>
            <a:off x="4754389" y="3808140"/>
            <a:ext cx="4024312" cy="695325"/>
          </a:xfrm>
          <a:prstGeom prst="roundRect">
            <a:avLst>
              <a:gd name="adj" fmla="val 11836"/>
            </a:avLst>
          </a:prstGeom>
          <a:solidFill>
            <a:srgbClr val="E3F2EF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671" y="3919017"/>
            <a:ext cx="3694703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006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PostgreSQL as the analytical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006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1370" dirty="0"/>
          </a:p>
        </p:txBody>
      </p:sp>
      <p:sp>
        <p:nvSpPr>
          <p:cNvPr id="28" name="Shape 25"/>
          <p:cNvSpPr/>
          <p:nvPr/>
        </p:nvSpPr>
        <p:spPr>
          <a:xfrm>
            <a:off x="366713" y="4507483"/>
            <a:ext cx="8410575" cy="314325"/>
          </a:xfrm>
          <a:prstGeom prst="rect">
            <a:avLst/>
          </a:prstGeom>
          <a:ln/>
        </p:spPr>
      </p:sp>
      <p:sp>
        <p:nvSpPr>
          <p:cNvPr id="29" name="Text 26"/>
          <p:cNvSpPr/>
          <p:nvPr/>
        </p:nvSpPr>
        <p:spPr>
          <a:xfrm>
            <a:off x="365745" y="4634657"/>
            <a:ext cx="2200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8328124" y="4634657"/>
            <a:ext cx="64232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5</a:t>
            </a:r>
            <a:endParaRPr lang="en-US" sz="108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07483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06242"/>
          </a:solidFill>
          <a:ln/>
        </p:spPr>
      </p:sp>
      <p:sp>
        <p:nvSpPr>
          <p:cNvPr id="5" name="Text 2"/>
          <p:cNvSpPr/>
          <p:nvPr/>
        </p:nvSpPr>
        <p:spPr>
          <a:xfrm>
            <a:off x="639961" y="229046"/>
            <a:ext cx="14835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analytics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7247558" y="238051"/>
            <a:ext cx="14923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534400" y="238051"/>
            <a:ext cx="3741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365745" y="1061070"/>
            <a:ext cx="199839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ANALYSIS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365745" y="1234232"/>
            <a:ext cx="4283452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880" b="1" spc="-11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makes the</a:t>
            </a:r>
            <a:endParaRPr lang="en-US" sz="2880" dirty="0"/>
          </a:p>
        </p:txBody>
      </p:sp>
      <p:sp>
        <p:nvSpPr>
          <p:cNvPr id="10" name="Text 7"/>
          <p:cNvSpPr/>
          <p:nvPr/>
        </p:nvSpPr>
        <p:spPr>
          <a:xfrm>
            <a:off x="365745" y="1629221"/>
            <a:ext cx="426052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880" b="1" spc="-11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explorable</a:t>
            </a:r>
            <a:endParaRPr lang="en-US" sz="2880" dirty="0"/>
          </a:p>
        </p:txBody>
      </p:sp>
      <p:sp>
        <p:nvSpPr>
          <p:cNvPr id="11" name="Shape 8"/>
          <p:cNvSpPr/>
          <p:nvPr/>
        </p:nvSpPr>
        <p:spPr>
          <a:xfrm>
            <a:off x="366601" y="2290130"/>
            <a:ext cx="71438" cy="7143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30275" y="2267992"/>
            <a:ext cx="486465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cards surface the most important measures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6601" y="2584289"/>
            <a:ext cx="71438" cy="7143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530275" y="2562151"/>
            <a:ext cx="4876554" cy="417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views compare calories, caffeine, and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mix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6601" y="3100648"/>
            <a:ext cx="71438" cy="7143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530275" y="3078510"/>
            <a:ext cx="4846275" cy="417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charts reveal where the assortment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concentrated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6601" y="3617007"/>
            <a:ext cx="71438" cy="7143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530275" y="3594869"/>
            <a:ext cx="3892339" cy="417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Top-five views spotlight high-caffeine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6601" y="4133366"/>
            <a:ext cx="71438" cy="7143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530275" y="4111228"/>
            <a:ext cx="4161272" cy="417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Slicers let users explore beverage name,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category, and nutritional metrics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57688" y="700943"/>
            <a:ext cx="4119562" cy="4191000"/>
          </a:xfrm>
          <a:prstGeom prst="roundRect">
            <a:avLst>
              <a:gd name="adj" fmla="val 2220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62587" y="952426"/>
            <a:ext cx="14607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view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7842870" y="907628"/>
            <a:ext cx="728663" cy="257175"/>
          </a:xfrm>
          <a:prstGeom prst="roundRect">
            <a:avLst>
              <a:gd name="adj" fmla="val 50000"/>
            </a:avLst>
          </a:prstGeom>
          <a:solidFill>
            <a:srgbClr val="E3F2EF"/>
          </a:solidFill>
          <a:ln/>
        </p:spPr>
      </p:sp>
      <p:sp>
        <p:nvSpPr>
          <p:cNvPr id="24" name="Text 21"/>
          <p:cNvSpPr/>
          <p:nvPr/>
        </p:nvSpPr>
        <p:spPr>
          <a:xfrm>
            <a:off x="7915201" y="952426"/>
            <a:ext cx="8163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4863108" y="1165547"/>
            <a:ext cx="871538" cy="671513"/>
          </a:xfrm>
          <a:prstGeom prst="roundRect">
            <a:avLst>
              <a:gd name="adj" fmla="val 8170"/>
            </a:avLst>
          </a:prstGeom>
          <a:solidFill>
            <a:srgbClr val="F0F6F5"/>
          </a:solidFill>
          <a:ln/>
        </p:spPr>
      </p:sp>
      <p:sp>
        <p:nvSpPr>
          <p:cNvPr id="26" name="Text 23"/>
          <p:cNvSpPr/>
          <p:nvPr/>
        </p:nvSpPr>
        <p:spPr>
          <a:xfrm>
            <a:off x="4953967" y="1270397"/>
            <a:ext cx="52275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4953967" y="1495946"/>
            <a:ext cx="128804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Beverages</a:t>
            </a:r>
            <a:endParaRPr lang="en-US" sz="1440" dirty="0"/>
          </a:p>
        </p:txBody>
      </p:sp>
      <p:sp>
        <p:nvSpPr>
          <p:cNvPr id="28" name="Shape 25"/>
          <p:cNvSpPr/>
          <p:nvPr/>
        </p:nvSpPr>
        <p:spPr>
          <a:xfrm>
            <a:off x="5808836" y="1165547"/>
            <a:ext cx="871538" cy="671513"/>
          </a:xfrm>
          <a:prstGeom prst="roundRect">
            <a:avLst>
              <a:gd name="adj" fmla="val 8170"/>
            </a:avLst>
          </a:prstGeom>
          <a:solidFill>
            <a:srgbClr val="F0F6F5"/>
          </a:solidFill>
          <a:ln/>
        </p:spPr>
      </p:sp>
      <p:sp>
        <p:nvSpPr>
          <p:cNvPr id="29" name="Text 26"/>
          <p:cNvSpPr/>
          <p:nvPr/>
        </p:nvSpPr>
        <p:spPr>
          <a:xfrm>
            <a:off x="5899696" y="1270397"/>
            <a:ext cx="40782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5899696" y="1495946"/>
            <a:ext cx="7457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Sugar</a:t>
            </a:r>
            <a:endParaRPr lang="en-US" sz="1440" dirty="0"/>
          </a:p>
        </p:txBody>
      </p:sp>
      <p:sp>
        <p:nvSpPr>
          <p:cNvPr id="31" name="Shape 28"/>
          <p:cNvSpPr/>
          <p:nvPr/>
        </p:nvSpPr>
        <p:spPr>
          <a:xfrm>
            <a:off x="6754564" y="1165547"/>
            <a:ext cx="871538" cy="671513"/>
          </a:xfrm>
          <a:prstGeom prst="roundRect">
            <a:avLst>
              <a:gd name="adj" fmla="val 8170"/>
            </a:avLst>
          </a:prstGeom>
          <a:solidFill>
            <a:srgbClr val="F0F6F5"/>
          </a:solidFill>
          <a:ln/>
        </p:spPr>
      </p:sp>
      <p:sp>
        <p:nvSpPr>
          <p:cNvPr id="32" name="Text 29"/>
          <p:cNvSpPr/>
          <p:nvPr/>
        </p:nvSpPr>
        <p:spPr>
          <a:xfrm>
            <a:off x="6845424" y="1270397"/>
            <a:ext cx="40782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</a:t>
            </a:r>
            <a:endParaRPr lang="en-US" sz="860" dirty="0"/>
          </a:p>
        </p:txBody>
      </p:sp>
      <p:sp>
        <p:nvSpPr>
          <p:cNvPr id="33" name="Text 30"/>
          <p:cNvSpPr/>
          <p:nvPr/>
        </p:nvSpPr>
        <p:spPr>
          <a:xfrm>
            <a:off x="6845424" y="1495946"/>
            <a:ext cx="101814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Calories</a:t>
            </a:r>
            <a:endParaRPr lang="en-US" sz="1440" dirty="0"/>
          </a:p>
        </p:txBody>
      </p:sp>
      <p:sp>
        <p:nvSpPr>
          <p:cNvPr id="34" name="Shape 31"/>
          <p:cNvSpPr/>
          <p:nvPr/>
        </p:nvSpPr>
        <p:spPr>
          <a:xfrm>
            <a:off x="7700293" y="1165547"/>
            <a:ext cx="871538" cy="671513"/>
          </a:xfrm>
          <a:prstGeom prst="roundRect">
            <a:avLst>
              <a:gd name="adj" fmla="val 8170"/>
            </a:avLst>
          </a:prstGeom>
          <a:solidFill>
            <a:srgbClr val="F0F6F5"/>
          </a:solidFill>
          <a:ln/>
        </p:spPr>
      </p:sp>
      <p:sp>
        <p:nvSpPr>
          <p:cNvPr id="35" name="Text 32"/>
          <p:cNvSpPr/>
          <p:nvPr/>
        </p:nvSpPr>
        <p:spPr>
          <a:xfrm>
            <a:off x="7791152" y="1270397"/>
            <a:ext cx="40782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</a:t>
            </a:r>
            <a:endParaRPr lang="en-US" sz="860" dirty="0"/>
          </a:p>
        </p:txBody>
      </p:sp>
      <p:sp>
        <p:nvSpPr>
          <p:cNvPr id="36" name="Text 33"/>
          <p:cNvSpPr/>
          <p:nvPr/>
        </p:nvSpPr>
        <p:spPr>
          <a:xfrm>
            <a:off x="7791152" y="1495946"/>
            <a:ext cx="104078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Caffeine</a:t>
            </a:r>
            <a:endParaRPr lang="en-US" sz="1440" dirty="0"/>
          </a:p>
        </p:txBody>
      </p:sp>
      <p:sp>
        <p:nvSpPr>
          <p:cNvPr id="37" name="Shape 34"/>
          <p:cNvSpPr/>
          <p:nvPr/>
        </p:nvSpPr>
        <p:spPr>
          <a:xfrm>
            <a:off x="4861843" y="1838065"/>
            <a:ext cx="1976437" cy="2533650"/>
          </a:xfrm>
          <a:prstGeom prst="roundRect">
            <a:avLst>
              <a:gd name="adj" fmla="val 3701"/>
            </a:avLst>
          </a:prstGeom>
          <a:ln w="4763">
            <a:solidFill>
              <a:srgbClr val="DDE6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95342" y="1989683"/>
            <a:ext cx="1777157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calories by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080" dirty="0"/>
          </a:p>
        </p:txBody>
      </p:sp>
      <p:sp>
        <p:nvSpPr>
          <p:cNvPr id="39" name="Shape 36"/>
          <p:cNvSpPr/>
          <p:nvPr/>
        </p:nvSpPr>
        <p:spPr>
          <a:xfrm>
            <a:off x="4995193" y="2511028"/>
            <a:ext cx="1709737" cy="976312"/>
          </a:xfrm>
          <a:prstGeom prst="rect">
            <a:avLst/>
          </a:prstGeom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862" y="3019165"/>
            <a:ext cx="371475" cy="419100"/>
          </a:xfrm>
          <a:prstGeom prst="rect">
            <a:avLst/>
          </a:prstGeom>
        </p:spPr>
      </p:pic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1528" y="2807829"/>
            <a:ext cx="371475" cy="628650"/>
          </a:xfrm>
          <a:prstGeom prst="rect">
            <a:avLst/>
          </a:prstGeom>
        </p:spPr>
      </p:pic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7194" y="2936974"/>
            <a:ext cx="371475" cy="500063"/>
          </a:xfrm>
          <a:prstGeom prst="rect">
            <a:avLst/>
          </a:prstGeom>
        </p:spPr>
      </p:pic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2860" y="2659893"/>
            <a:ext cx="371475" cy="776287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6957120" y="1838065"/>
            <a:ext cx="1614488" cy="2533650"/>
          </a:xfrm>
          <a:prstGeom prst="roundRect">
            <a:avLst>
              <a:gd name="adj" fmla="val 4531"/>
            </a:avLst>
          </a:prstGeom>
          <a:ln w="4763">
            <a:solidFill>
              <a:srgbClr val="DDE6E7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089130" y="1989683"/>
            <a:ext cx="1062067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</a:t>
            </a:r>
            <a:endParaRPr lang="en-US" sz="1080" dirty="0"/>
          </a:p>
        </p:txBody>
      </p:sp>
      <p:sp>
        <p:nvSpPr>
          <p:cNvPr id="46" name="Shape 39"/>
          <p:cNvSpPr/>
          <p:nvPr/>
        </p:nvSpPr>
        <p:spPr>
          <a:xfrm>
            <a:off x="7169051" y="2535287"/>
            <a:ext cx="1190625" cy="1190625"/>
          </a:xfrm>
          <a:prstGeom prst="ellipse">
            <a:avLst/>
          </a:prstGeom>
          <a:ln/>
        </p:spPr>
      </p:sp>
      <p:sp>
        <p:nvSpPr>
          <p:cNvPr id="47" name="Text 40"/>
          <p:cNvSpPr/>
          <p:nvPr/>
        </p:nvSpPr>
        <p:spPr>
          <a:xfrm>
            <a:off x="7260900" y="3846835"/>
            <a:ext cx="1006926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assortment</a:t>
            </a:r>
            <a:endParaRPr lang="en-US" sz="1080" dirty="0"/>
          </a:p>
        </p:txBody>
      </p:sp>
      <p:sp>
        <p:nvSpPr>
          <p:cNvPr id="48" name="Text 41"/>
          <p:cNvSpPr/>
          <p:nvPr/>
        </p:nvSpPr>
        <p:spPr>
          <a:xfrm>
            <a:off x="4862587" y="4498553"/>
            <a:ext cx="137124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 name</a:t>
            </a:r>
            <a:endParaRPr lang="en-US" sz="1080" dirty="0"/>
          </a:p>
        </p:txBody>
      </p:sp>
      <p:sp>
        <p:nvSpPr>
          <p:cNvPr id="49" name="Text 42"/>
          <p:cNvSpPr/>
          <p:nvPr/>
        </p:nvSpPr>
        <p:spPr>
          <a:xfrm>
            <a:off x="6014070" y="4498553"/>
            <a:ext cx="165623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 category</a:t>
            </a:r>
            <a:endParaRPr lang="en-US" sz="1080" dirty="0"/>
          </a:p>
        </p:txBody>
      </p:sp>
      <p:sp>
        <p:nvSpPr>
          <p:cNvPr id="50" name="Text 43"/>
          <p:cNvSpPr/>
          <p:nvPr/>
        </p:nvSpPr>
        <p:spPr>
          <a:xfrm>
            <a:off x="7384777" y="4498553"/>
            <a:ext cx="160089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Nutritional metrics</a:t>
            </a:r>
            <a:endParaRPr lang="en-US" sz="1080" dirty="0"/>
          </a:p>
        </p:txBody>
      </p:sp>
      <p:sp>
        <p:nvSpPr>
          <p:cNvPr id="51" name="Shape 44"/>
          <p:cNvSpPr/>
          <p:nvPr/>
        </p:nvSpPr>
        <p:spPr>
          <a:xfrm>
            <a:off x="366713" y="4507483"/>
            <a:ext cx="8410575" cy="314325"/>
          </a:xfrm>
          <a:prstGeom prst="rect">
            <a:avLst/>
          </a:prstGeom>
          <a:ln/>
        </p:spPr>
      </p:sp>
      <p:sp>
        <p:nvSpPr>
          <p:cNvPr id="52" name="Text 45"/>
          <p:cNvSpPr/>
          <p:nvPr/>
        </p:nvSpPr>
        <p:spPr>
          <a:xfrm>
            <a:off x="365745" y="4634657"/>
            <a:ext cx="2200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080" dirty="0"/>
          </a:p>
        </p:txBody>
      </p:sp>
      <p:sp>
        <p:nvSpPr>
          <p:cNvPr id="53" name="Text 46"/>
          <p:cNvSpPr/>
          <p:nvPr/>
        </p:nvSpPr>
        <p:spPr>
          <a:xfrm>
            <a:off x="8324478" y="4634657"/>
            <a:ext cx="64706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6</a:t>
            </a:r>
            <a:endParaRPr lang="en-US" sz="108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95193" y="2511028"/>
            <a:ext cx="1709737" cy="976312"/>
          </a:xfrm>
          <a:prstGeom prst="rect">
            <a:avLst/>
          </a:prstGeom>
        </p:spPr>
      </p:pic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69051" y="2535287"/>
            <a:ext cx="1190625" cy="1190625"/>
          </a:xfrm>
          <a:prstGeom prst="rect">
            <a:avLst/>
          </a:prstGeom>
        </p:spPr>
      </p:pic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62475" y="4371380"/>
            <a:ext cx="3709987" cy="314325"/>
          </a:xfrm>
          <a:prstGeom prst="rect">
            <a:avLst/>
          </a:prstGeom>
        </p:spPr>
      </p:pic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6713" y="4507483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06242"/>
          </a:solidFill>
          <a:ln/>
        </p:spPr>
      </p:sp>
      <p:sp>
        <p:nvSpPr>
          <p:cNvPr id="5" name="Text 2"/>
          <p:cNvSpPr/>
          <p:nvPr/>
        </p:nvSpPr>
        <p:spPr>
          <a:xfrm>
            <a:off x="639961" y="229046"/>
            <a:ext cx="14835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analytics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7533903" y="238051"/>
            <a:ext cx="11201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FRAMEWORK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534400" y="238051"/>
            <a:ext cx="3741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365745" y="716087"/>
            <a:ext cx="13317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DESIGN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365745" y="960686"/>
            <a:ext cx="740374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590" b="1" spc="-104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KPI layer keeps the story focused</a:t>
            </a:r>
            <a:endParaRPr lang="en-US" sz="2590" dirty="0"/>
          </a:p>
        </p:txBody>
      </p:sp>
      <p:sp>
        <p:nvSpPr>
          <p:cNvPr id="10" name="Shape 7"/>
          <p:cNvSpPr/>
          <p:nvPr/>
        </p:nvSpPr>
        <p:spPr>
          <a:xfrm>
            <a:off x="364778" y="1669107"/>
            <a:ext cx="2714625" cy="1495425"/>
          </a:xfrm>
          <a:prstGeom prst="roundRect">
            <a:avLst>
              <a:gd name="adj" fmla="val 6115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3343" y="1875458"/>
            <a:ext cx="27568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6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553343" y="2219251"/>
            <a:ext cx="220067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6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Beverages</a:t>
            </a:r>
            <a:endParaRPr lang="en-US" sz="1660" dirty="0"/>
          </a:p>
        </p:txBody>
      </p:sp>
      <p:sp>
        <p:nvSpPr>
          <p:cNvPr id="13" name="Text 10"/>
          <p:cNvSpPr/>
          <p:nvPr/>
        </p:nvSpPr>
        <p:spPr>
          <a:xfrm>
            <a:off x="553343" y="2567062"/>
            <a:ext cx="30516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2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beverages analyzed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3214650" y="1669107"/>
            <a:ext cx="2714625" cy="1495425"/>
          </a:xfrm>
          <a:prstGeom prst="roundRect">
            <a:avLst>
              <a:gd name="adj" fmla="val 6115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403178" y="1875458"/>
            <a:ext cx="3110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6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3403178" y="2219251"/>
            <a:ext cx="20232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6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Sugar</a:t>
            </a:r>
            <a:endParaRPr lang="en-US" sz="1660" dirty="0"/>
          </a:p>
        </p:txBody>
      </p:sp>
      <p:sp>
        <p:nvSpPr>
          <p:cNvPr id="17" name="Text 14"/>
          <p:cNvSpPr/>
          <p:nvPr/>
        </p:nvSpPr>
        <p:spPr>
          <a:xfrm>
            <a:off x="3403178" y="2567062"/>
            <a:ext cx="2910059" cy="400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sugar content across</a:t>
            </a:r>
            <a:endParaRPr lang="en-US" sz="1220" dirty="0"/>
          </a:p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beverages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064560" y="1669107"/>
            <a:ext cx="2714625" cy="1495425"/>
          </a:xfrm>
          <a:prstGeom prst="roundRect">
            <a:avLst>
              <a:gd name="adj" fmla="val 6115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53088" y="1875458"/>
            <a:ext cx="31389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6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6253088" y="2219251"/>
            <a:ext cx="233649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6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Calories</a:t>
            </a:r>
            <a:endParaRPr lang="en-US" sz="1660" dirty="0"/>
          </a:p>
        </p:txBody>
      </p:sp>
      <p:sp>
        <p:nvSpPr>
          <p:cNvPr id="21" name="Text 18"/>
          <p:cNvSpPr/>
          <p:nvPr/>
        </p:nvSpPr>
        <p:spPr>
          <a:xfrm>
            <a:off x="6253088" y="2567062"/>
            <a:ext cx="3016181" cy="400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calorie content across</a:t>
            </a:r>
            <a:endParaRPr lang="en-US" sz="1220" dirty="0"/>
          </a:p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beverages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364778" y="3302273"/>
            <a:ext cx="2714625" cy="1495425"/>
          </a:xfrm>
          <a:prstGeom prst="roundRect">
            <a:avLst>
              <a:gd name="adj" fmla="val 6115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53343" y="3508623"/>
            <a:ext cx="31940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6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553343" y="3852416"/>
            <a:ext cx="236252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6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Caffeine</a:t>
            </a:r>
            <a:endParaRPr lang="en-US" sz="1660" dirty="0"/>
          </a:p>
        </p:txBody>
      </p:sp>
      <p:sp>
        <p:nvSpPr>
          <p:cNvPr id="25" name="Text 22"/>
          <p:cNvSpPr/>
          <p:nvPr/>
        </p:nvSpPr>
        <p:spPr>
          <a:xfrm>
            <a:off x="553343" y="4200227"/>
            <a:ext cx="2448327" cy="400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caffeine content</a:t>
            </a:r>
            <a:endParaRPr lang="en-US" sz="1220" dirty="0"/>
          </a:p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beverages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3214650" y="3302273"/>
            <a:ext cx="2714625" cy="1495425"/>
          </a:xfrm>
          <a:prstGeom prst="roundRect">
            <a:avLst>
              <a:gd name="adj" fmla="val 6115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403178" y="3508623"/>
            <a:ext cx="30973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6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3403178" y="3852416"/>
            <a:ext cx="308167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6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Caffeine Beverage</a:t>
            </a:r>
            <a:endParaRPr lang="en-US" sz="1660" dirty="0"/>
          </a:p>
        </p:txBody>
      </p:sp>
      <p:sp>
        <p:nvSpPr>
          <p:cNvPr id="29" name="Text 26"/>
          <p:cNvSpPr/>
          <p:nvPr/>
        </p:nvSpPr>
        <p:spPr>
          <a:xfrm>
            <a:off x="3403178" y="4200227"/>
            <a:ext cx="2537229" cy="400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 with the highest</a:t>
            </a:r>
            <a:endParaRPr lang="en-US" sz="1220" dirty="0"/>
          </a:p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caffeine level</a:t>
            </a:r>
            <a:endParaRPr lang="en-US" sz="1220" dirty="0"/>
          </a:p>
        </p:txBody>
      </p:sp>
      <p:sp>
        <p:nvSpPr>
          <p:cNvPr id="30" name="Shape 27"/>
          <p:cNvSpPr/>
          <p:nvPr/>
        </p:nvSpPr>
        <p:spPr>
          <a:xfrm>
            <a:off x="6064560" y="3302273"/>
            <a:ext cx="2714625" cy="1495425"/>
          </a:xfrm>
          <a:prstGeom prst="roundRect">
            <a:avLst>
              <a:gd name="adj" fmla="val 6115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82880" dist="73152" dir="5400000">
              <a:srgbClr val="0D9488">
                <a:alpha val="17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248326" y="3503861"/>
            <a:ext cx="31457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65" kern="0" dirty="0">
                <a:solidFill>
                  <a:srgbClr val="D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6248326" y="3847654"/>
            <a:ext cx="186489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6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Category</a:t>
            </a:r>
            <a:endParaRPr lang="en-US" sz="1660" dirty="0"/>
          </a:p>
        </p:txBody>
      </p:sp>
      <p:sp>
        <p:nvSpPr>
          <p:cNvPr id="33" name="Text 30"/>
          <p:cNvSpPr/>
          <p:nvPr/>
        </p:nvSpPr>
        <p:spPr>
          <a:xfrm>
            <a:off x="6248326" y="4195465"/>
            <a:ext cx="2438653" cy="400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D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with significant</a:t>
            </a:r>
            <a:endParaRPr lang="en-US" sz="1220" dirty="0"/>
          </a:p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D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distribution</a:t>
            </a:r>
            <a:endParaRPr lang="en-US" sz="1220" dirty="0"/>
          </a:p>
        </p:txBody>
      </p:sp>
      <p:sp>
        <p:nvSpPr>
          <p:cNvPr id="34" name="Shape 31"/>
          <p:cNvSpPr/>
          <p:nvPr/>
        </p:nvSpPr>
        <p:spPr>
          <a:xfrm>
            <a:off x="366713" y="4624015"/>
            <a:ext cx="8410575" cy="314325"/>
          </a:xfrm>
          <a:prstGeom prst="rect">
            <a:avLst/>
          </a:prstGeom>
          <a:ln/>
        </p:spPr>
      </p:sp>
      <p:sp>
        <p:nvSpPr>
          <p:cNvPr id="35" name="Text 32"/>
          <p:cNvSpPr/>
          <p:nvPr/>
        </p:nvSpPr>
        <p:spPr>
          <a:xfrm>
            <a:off x="365745" y="4751189"/>
            <a:ext cx="2200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8332515" y="4751189"/>
            <a:ext cx="6366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7</a:t>
            </a:r>
            <a:endParaRPr lang="en-US" sz="108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24015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06242"/>
          </a:solidFill>
          <a:ln/>
        </p:spPr>
      </p:sp>
      <p:sp>
        <p:nvSpPr>
          <p:cNvPr id="5" name="Text 2"/>
          <p:cNvSpPr/>
          <p:nvPr/>
        </p:nvSpPr>
        <p:spPr>
          <a:xfrm>
            <a:off x="639961" y="229046"/>
            <a:ext cx="14835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analytics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7378303" y="238051"/>
            <a:ext cx="13223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INSIGHTS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534400" y="238051"/>
            <a:ext cx="3741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365745" y="1073944"/>
            <a:ext cx="198301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SURFACE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365745" y="1247105"/>
            <a:ext cx="395521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880" b="1" spc="-11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analysis</a:t>
            </a:r>
            <a:endParaRPr lang="en-US" sz="2880" dirty="0"/>
          </a:p>
        </p:txBody>
      </p:sp>
      <p:sp>
        <p:nvSpPr>
          <p:cNvPr id="10" name="Text 7"/>
          <p:cNvSpPr/>
          <p:nvPr/>
        </p:nvSpPr>
        <p:spPr>
          <a:xfrm>
            <a:off x="365745" y="1642095"/>
            <a:ext cx="2683691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880" b="1" spc="-11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reveal</a:t>
            </a:r>
            <a:endParaRPr lang="en-US" sz="2880" dirty="0"/>
          </a:p>
        </p:txBody>
      </p:sp>
      <p:sp>
        <p:nvSpPr>
          <p:cNvPr id="11" name="Shape 8"/>
          <p:cNvSpPr/>
          <p:nvPr/>
        </p:nvSpPr>
        <p:spPr>
          <a:xfrm>
            <a:off x="364703" y="2321644"/>
            <a:ext cx="3833812" cy="1624012"/>
          </a:xfrm>
          <a:prstGeom prst="roundRect">
            <a:avLst>
              <a:gd name="adj" fmla="val 5631"/>
            </a:avLst>
          </a:prstGeom>
          <a:solidFill>
            <a:srgbClr val="102F2B"/>
          </a:solidFill>
          <a:ln/>
        </p:spPr>
      </p:sp>
      <p:sp>
        <p:nvSpPr>
          <p:cNvPr id="12" name="Text 9"/>
          <p:cNvSpPr/>
          <p:nvPr/>
        </p:nvSpPr>
        <p:spPr>
          <a:xfrm>
            <a:off x="594345" y="2570485"/>
            <a:ext cx="225349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7ED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TO ACTION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4345" y="2855193"/>
            <a:ext cx="43867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D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product, category, and</a:t>
            </a:r>
            <a:endParaRPr lang="en-US" sz="1870" dirty="0"/>
          </a:p>
        </p:txBody>
      </p:sp>
      <p:sp>
        <p:nvSpPr>
          <p:cNvPr id="14" name="Text 11"/>
          <p:cNvSpPr/>
          <p:nvPr/>
        </p:nvSpPr>
        <p:spPr>
          <a:xfrm>
            <a:off x="594345" y="3140497"/>
            <a:ext cx="413447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D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choices easier to</a:t>
            </a:r>
            <a:endParaRPr lang="en-US" sz="1870" dirty="0"/>
          </a:p>
        </p:txBody>
      </p:sp>
      <p:sp>
        <p:nvSpPr>
          <p:cNvPr id="15" name="Text 12"/>
          <p:cNvSpPr/>
          <p:nvPr/>
        </p:nvSpPr>
        <p:spPr>
          <a:xfrm>
            <a:off x="594345" y="3425800"/>
            <a:ext cx="7015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D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see.</a:t>
            </a:r>
            <a:endParaRPr lang="en-US" sz="1870" dirty="0"/>
          </a:p>
        </p:txBody>
      </p:sp>
      <p:sp>
        <p:nvSpPr>
          <p:cNvPr id="16" name="Shape 13"/>
          <p:cNvSpPr/>
          <p:nvPr/>
        </p:nvSpPr>
        <p:spPr>
          <a:xfrm>
            <a:off x="4563331" y="729555"/>
            <a:ext cx="4214813" cy="704850"/>
          </a:xfrm>
          <a:prstGeom prst="roundRect">
            <a:avLst>
              <a:gd name="adj" fmla="val 1167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0817" y="845195"/>
            <a:ext cx="4418305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that contribute most to overall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370" dirty="0"/>
          </a:p>
        </p:txBody>
      </p:sp>
      <p:sp>
        <p:nvSpPr>
          <p:cNvPr id="18" name="Shape 15"/>
          <p:cNvSpPr/>
          <p:nvPr/>
        </p:nvSpPr>
        <p:spPr>
          <a:xfrm>
            <a:off x="4563331" y="1507108"/>
            <a:ext cx="4214813" cy="704850"/>
          </a:xfrm>
          <a:prstGeom prst="roundRect">
            <a:avLst>
              <a:gd name="adj" fmla="val 1167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50817" y="1622747"/>
            <a:ext cx="4750311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 with stronger performance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</a:t>
            </a:r>
            <a:endParaRPr lang="en-US" sz="1370" dirty="0"/>
          </a:p>
        </p:txBody>
      </p:sp>
      <p:sp>
        <p:nvSpPr>
          <p:cNvPr id="20" name="Shape 17"/>
          <p:cNvSpPr/>
          <p:nvPr/>
        </p:nvSpPr>
        <p:spPr>
          <a:xfrm>
            <a:off x="4563331" y="2284661"/>
            <a:ext cx="4214813" cy="704850"/>
          </a:xfrm>
          <a:prstGeom prst="roundRect">
            <a:avLst>
              <a:gd name="adj" fmla="val 11676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50817" y="2400300"/>
            <a:ext cx="4390154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Sales, nutritional, and caffeine patterns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the assortment</a:t>
            </a:r>
            <a:endParaRPr lang="en-US" sz="1370" dirty="0"/>
          </a:p>
        </p:txBody>
      </p:sp>
      <p:sp>
        <p:nvSpPr>
          <p:cNvPr id="22" name="Shape 19"/>
          <p:cNvSpPr/>
          <p:nvPr/>
        </p:nvSpPr>
        <p:spPr>
          <a:xfrm>
            <a:off x="4563331" y="3062883"/>
            <a:ext cx="4214813" cy="442913"/>
          </a:xfrm>
          <a:prstGeom prst="roundRect">
            <a:avLst>
              <a:gd name="adj" fmla="val 18581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750817" y="3177853"/>
            <a:ext cx="50414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Beverages with high calorie or caffeine levels</a:t>
            </a:r>
            <a:endParaRPr lang="en-US" sz="1370" dirty="0"/>
          </a:p>
        </p:txBody>
      </p:sp>
      <p:sp>
        <p:nvSpPr>
          <p:cNvPr id="24" name="Shape 21"/>
          <p:cNvSpPr/>
          <p:nvPr/>
        </p:nvSpPr>
        <p:spPr>
          <a:xfrm>
            <a:off x="4563331" y="3579168"/>
            <a:ext cx="4214813" cy="695325"/>
          </a:xfrm>
          <a:prstGeom prst="roundRect">
            <a:avLst>
              <a:gd name="adj" fmla="val 11836"/>
            </a:avLst>
          </a:prstGeom>
          <a:solidFill>
            <a:srgbClr val="E3F2EF"/>
          </a:solidFill>
          <a:ln/>
        </p:spPr>
      </p:sp>
      <p:sp>
        <p:nvSpPr>
          <p:cNvPr id="25" name="Text 22"/>
          <p:cNvSpPr/>
          <p:nvPr/>
        </p:nvSpPr>
        <p:spPr>
          <a:xfrm>
            <a:off x="4746054" y="3690045"/>
            <a:ext cx="4899675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006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 to support healthier and more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0062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informed customer choices</a:t>
            </a:r>
            <a:endParaRPr lang="en-US" sz="1370" dirty="0"/>
          </a:p>
        </p:txBody>
      </p:sp>
      <p:sp>
        <p:nvSpPr>
          <p:cNvPr id="26" name="Shape 23"/>
          <p:cNvSpPr/>
          <p:nvPr/>
        </p:nvSpPr>
        <p:spPr>
          <a:xfrm>
            <a:off x="366713" y="4507483"/>
            <a:ext cx="8410575" cy="314325"/>
          </a:xfrm>
          <a:prstGeom prst="rect">
            <a:avLst/>
          </a:prstGeom>
          <a:ln/>
        </p:spPr>
      </p:sp>
      <p:sp>
        <p:nvSpPr>
          <p:cNvPr id="27" name="Text 24"/>
          <p:cNvSpPr/>
          <p:nvPr/>
        </p:nvSpPr>
        <p:spPr>
          <a:xfrm>
            <a:off x="365745" y="4634657"/>
            <a:ext cx="2200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8324478" y="4634657"/>
            <a:ext cx="64706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8</a:t>
            </a:r>
            <a:endParaRPr lang="en-US" sz="108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07483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06242"/>
          </a:solidFill>
          <a:ln/>
        </p:spPr>
      </p:sp>
      <p:sp>
        <p:nvSpPr>
          <p:cNvPr id="5" name="Text 2"/>
          <p:cNvSpPr/>
          <p:nvPr/>
        </p:nvSpPr>
        <p:spPr>
          <a:xfrm>
            <a:off x="639961" y="229046"/>
            <a:ext cx="14835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analytics</a:t>
            </a:r>
            <a:endParaRPr lang="en-US" sz="860" dirty="0"/>
          </a:p>
        </p:txBody>
      </p:sp>
      <p:sp>
        <p:nvSpPr>
          <p:cNvPr id="6" name="Text 3"/>
          <p:cNvSpPr/>
          <p:nvPr/>
        </p:nvSpPr>
        <p:spPr>
          <a:xfrm>
            <a:off x="7862515" y="238051"/>
            <a:ext cx="6929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534400" y="238051"/>
            <a:ext cx="3741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365745" y="1439912"/>
            <a:ext cx="13813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69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HORIZONS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365745" y="1608311"/>
            <a:ext cx="3557528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3170" b="1" spc="-143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insight to</a:t>
            </a:r>
            <a:endParaRPr lang="en-US" sz="3170" dirty="0"/>
          </a:p>
        </p:txBody>
      </p:sp>
      <p:sp>
        <p:nvSpPr>
          <p:cNvPr id="10" name="Text 7"/>
          <p:cNvSpPr/>
          <p:nvPr/>
        </p:nvSpPr>
        <p:spPr>
          <a:xfrm>
            <a:off x="365745" y="2034778"/>
            <a:ext cx="1538794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3170" b="1" spc="-143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3170" dirty="0"/>
          </a:p>
        </p:txBody>
      </p:sp>
      <p:sp>
        <p:nvSpPr>
          <p:cNvPr id="11" name="Text 8"/>
          <p:cNvSpPr/>
          <p:nvPr/>
        </p:nvSpPr>
        <p:spPr>
          <a:xfrm>
            <a:off x="365745" y="2616473"/>
            <a:ext cx="3804114" cy="672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9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foundation for sharper product</a:t>
            </a:r>
            <a:endParaRPr lang="en-US" sz="1300" dirty="0"/>
          </a:p>
          <a:p>
            <a:pPr algn="l" indent="0" marL="0">
              <a:lnSpc>
                <a:spcPts val="1879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strategy, healthier choices, and more</a:t>
            </a:r>
            <a:endParaRPr lang="en-US" sz="1300" dirty="0"/>
          </a:p>
          <a:p>
            <a:pPr algn="l" indent="0" marL="0">
              <a:lnSpc>
                <a:spcPts val="1879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decision-making.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299" y="3520157"/>
            <a:ext cx="1281112" cy="57150"/>
          </a:xfrm>
          <a:prstGeom prst="roundRect">
            <a:avLst>
              <a:gd name="adj" fmla="val 50000"/>
            </a:avLst>
          </a:prstGeom>
          <a:solidFill>
            <a:srgbClr val="CFE7E3"/>
          </a:solidFill>
          <a:ln/>
        </p:spPr>
      </p:sp>
      <p:sp>
        <p:nvSpPr>
          <p:cNvPr id="13" name="Shape 10"/>
          <p:cNvSpPr/>
          <p:nvPr/>
        </p:nvSpPr>
        <p:spPr>
          <a:xfrm>
            <a:off x="1736899" y="3520157"/>
            <a:ext cx="1281112" cy="57150"/>
          </a:xfrm>
          <a:prstGeom prst="roundRect">
            <a:avLst>
              <a:gd name="adj" fmla="val 50000"/>
            </a:avLst>
          </a:prstGeom>
          <a:solidFill>
            <a:srgbClr val="8CCBC2"/>
          </a:solidFill>
          <a:ln/>
        </p:spPr>
      </p:sp>
      <p:sp>
        <p:nvSpPr>
          <p:cNvPr id="14" name="Shape 11"/>
          <p:cNvSpPr/>
          <p:nvPr/>
        </p:nvSpPr>
        <p:spPr>
          <a:xfrm>
            <a:off x="3108499" y="3520157"/>
            <a:ext cx="1281112" cy="57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5" name="Shape 12"/>
          <p:cNvSpPr/>
          <p:nvPr/>
        </p:nvSpPr>
        <p:spPr>
          <a:xfrm>
            <a:off x="4754389" y="859110"/>
            <a:ext cx="4024312" cy="600075"/>
          </a:xfrm>
          <a:prstGeom prst="roundRect">
            <a:avLst>
              <a:gd name="adj" fmla="val 13714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42433" y="984796"/>
            <a:ext cx="26745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11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213896" y="950315"/>
            <a:ext cx="2847566" cy="40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product strategy on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high-performing categories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389" y="1532930"/>
            <a:ext cx="4024312" cy="600075"/>
          </a:xfrm>
          <a:prstGeom prst="roundRect">
            <a:avLst>
              <a:gd name="adj" fmla="val 13714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42433" y="1658615"/>
            <a:ext cx="30528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11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242992" y="1624134"/>
            <a:ext cx="4043638" cy="40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nutritional trends to shape clearer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guidance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54389" y="2206749"/>
            <a:ext cx="4024312" cy="600075"/>
          </a:xfrm>
          <a:prstGeom prst="roundRect">
            <a:avLst>
              <a:gd name="adj" fmla="val 13714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942433" y="2332434"/>
            <a:ext cx="30818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11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245224" y="2297953"/>
            <a:ext cx="4005910" cy="40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the model with customer-level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and segmentation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389" y="2880568"/>
            <a:ext cx="4024312" cy="600075"/>
          </a:xfrm>
          <a:prstGeom prst="roundRect">
            <a:avLst>
              <a:gd name="adj" fmla="val 13714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942433" y="3006254"/>
            <a:ext cx="31408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11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249763" y="2971773"/>
            <a:ext cx="4091136" cy="40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forecasting and predictive models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future demand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54389" y="3554388"/>
            <a:ext cx="4024312" cy="590550"/>
          </a:xfrm>
          <a:prstGeom prst="roundRect">
            <a:avLst>
              <a:gd name="adj" fmla="val 13935"/>
            </a:avLst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4937671" y="3640830"/>
            <a:ext cx="4128090" cy="40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Power BI to a live database for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refreshed decision-making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66713" y="4507483"/>
            <a:ext cx="8410575" cy="314325"/>
          </a:xfrm>
          <a:prstGeom prst="rect">
            <a:avLst/>
          </a:prstGeom>
          <a:ln/>
        </p:spPr>
      </p:sp>
      <p:sp>
        <p:nvSpPr>
          <p:cNvPr id="30" name="Text 27"/>
          <p:cNvSpPr/>
          <p:nvPr/>
        </p:nvSpPr>
        <p:spPr>
          <a:xfrm>
            <a:off x="365745" y="4634657"/>
            <a:ext cx="2200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8324478" y="4634657"/>
            <a:ext cx="64706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9</a:t>
            </a:r>
            <a:endParaRPr lang="en-US" sz="108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07483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31974" y="3314216"/>
            <a:ext cx="3109913" cy="3109913"/>
          </a:xfrm>
          <a:prstGeom prst="ellipse">
            <a:avLst/>
          </a:prstGeom>
          <a:ln w="4763">
            <a:solidFill>
              <a:srgbClr val="10948C">
                <a:alpha val="12157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</p:sp>
      <p:sp>
        <p:nvSpPr>
          <p:cNvPr id="5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06242"/>
          </a:solidFill>
          <a:ln/>
        </p:spPr>
      </p:sp>
      <p:sp>
        <p:nvSpPr>
          <p:cNvPr id="6" name="Text 3"/>
          <p:cNvSpPr/>
          <p:nvPr/>
        </p:nvSpPr>
        <p:spPr>
          <a:xfrm>
            <a:off x="639961" y="229046"/>
            <a:ext cx="14835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analytics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7624614" y="238051"/>
            <a:ext cx="10021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NOTE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534400" y="238051"/>
            <a:ext cx="3741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29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20" dirty="0"/>
          </a:p>
        </p:txBody>
      </p:sp>
      <p:sp>
        <p:nvSpPr>
          <p:cNvPr id="9" name="Shape 6"/>
          <p:cNvSpPr/>
          <p:nvPr/>
        </p:nvSpPr>
        <p:spPr>
          <a:xfrm>
            <a:off x="4298156" y="993651"/>
            <a:ext cx="547687" cy="547687"/>
          </a:xfrm>
          <a:prstGeom prst="ellipse">
            <a:avLst/>
          </a:prstGeom>
          <a:solidFill>
            <a:srgbClr val="E3F2EF"/>
          </a:solidFill>
          <a:ln/>
        </p:spPr>
      </p:sp>
      <p:sp>
        <p:nvSpPr>
          <p:cNvPr id="10" name="Shape 7"/>
          <p:cNvSpPr/>
          <p:nvPr/>
        </p:nvSpPr>
        <p:spPr>
          <a:xfrm>
            <a:off x="4433888" y="1129382"/>
            <a:ext cx="276225" cy="276225"/>
          </a:xfrm>
          <a:prstGeom prst="ellipse">
            <a:avLst/>
          </a:prstGeom>
          <a:solidFill>
            <a:srgbClr val="006242"/>
          </a:solidFill>
          <a:ln/>
        </p:spPr>
      </p:sp>
      <p:sp>
        <p:nvSpPr>
          <p:cNvPr id="11" name="Text 8"/>
          <p:cNvSpPr/>
          <p:nvPr/>
        </p:nvSpPr>
        <p:spPr>
          <a:xfrm>
            <a:off x="2989916" y="1653183"/>
            <a:ext cx="3164093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1215"/>
              </a:spcBef>
              <a:buNone/>
            </a:pPr>
            <a:r>
              <a:rPr lang="en-US" sz="3960" b="1" spc="-198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3960" dirty="0"/>
          </a:p>
        </p:txBody>
      </p:sp>
      <p:sp>
        <p:nvSpPr>
          <p:cNvPr id="12" name="Text 9"/>
          <p:cNvSpPr/>
          <p:nvPr/>
        </p:nvSpPr>
        <p:spPr>
          <a:xfrm>
            <a:off x="2926058" y="2329681"/>
            <a:ext cx="329188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607"/>
              </a:spcBef>
              <a:buNone/>
            </a:pPr>
            <a:r>
              <a:rPr lang="en-US" sz="15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3511529" y="2678013"/>
            <a:ext cx="212086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405"/>
              </a:spcBef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Bhushan Ubarhande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09683" y="2961233"/>
            <a:ext cx="49246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Analyst </a:t>
            </a:r>
            <a:pPr algn="ctr" indent="0" marL="0">
              <a:buNone/>
            </a:pPr>
            <a:r>
              <a:rPr lang="en-US" sz="108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ctr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 </a:t>
            </a:r>
            <a:pPr algn="ctr" indent="0" marL="0">
              <a:buNone/>
            </a:pPr>
            <a:r>
              <a:rPr lang="en-US" sz="108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ctr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PostgreSQL </a:t>
            </a:r>
            <a:pPr algn="ctr" indent="0" marL="0">
              <a:buNone/>
            </a:pPr>
            <a:r>
              <a:rPr lang="en-US" sz="108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ctr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Power BI </a:t>
            </a:r>
            <a:pPr algn="ctr" indent="0" marL="0">
              <a:buNone/>
            </a:pPr>
            <a:r>
              <a:rPr lang="en-US" sz="108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ctr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90513" y="3353619"/>
            <a:ext cx="7962900" cy="657225"/>
          </a:xfrm>
          <a:prstGeom prst="roundRect">
            <a:avLst>
              <a:gd name="adj" fmla="val 13913"/>
            </a:avLst>
          </a:prstGeom>
          <a:solidFill>
            <a:srgbClr val="FFFFFF">
              <a:alpha val="90196"/>
            </a:srgbClr>
          </a:solidFill>
          <a:ln w="4763">
            <a:solidFill>
              <a:srgbClr val="DDE6E7"/>
            </a:solidFill>
            <a:prstDash val="solid"/>
          </a:ln>
          <a:effectLst>
            <a:outerShdw sx="100000" sy="100000" kx="0" ky="0" algn="bl" rotWithShape="0" blurRad="146304" dist="50292" dir="5400000">
              <a:srgbClr val="1E3A5F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70496" y="3480197"/>
            <a:ext cx="98080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6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870496" y="3716685"/>
            <a:ext cx="428741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1080" b="1" u="sng" dirty="0">
                <a:solidFill>
                  <a:srgbClr val="00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linkedin.com/in/bhushan-ubarhande-7b1b19300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4490293" y="3460775"/>
            <a:ext cx="4763" cy="442913"/>
          </a:xfrm>
          <a:prstGeom prst="rect">
            <a:avLst/>
          </a:prstGeom>
          <a:solidFill>
            <a:srgbClr val="DDE6E7"/>
          </a:solidFill>
          <a:ln/>
        </p:spPr>
      </p:sp>
      <p:sp>
        <p:nvSpPr>
          <p:cNvPr id="19" name="Text 16"/>
          <p:cNvSpPr/>
          <p:nvPr/>
        </p:nvSpPr>
        <p:spPr>
          <a:xfrm>
            <a:off x="4860801" y="3480197"/>
            <a:ext cx="80590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6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4860801" y="3716685"/>
            <a:ext cx="449356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1080" b="1" u="sng" dirty="0">
                <a:solidFill>
                  <a:srgbClr val="00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github.com/codewith-bhushan/codewith-bhushan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366713" y="4507483"/>
            <a:ext cx="8410575" cy="314325"/>
          </a:xfrm>
          <a:prstGeom prst="rect">
            <a:avLst/>
          </a:prstGeom>
          <a:ln/>
        </p:spPr>
      </p:sp>
      <p:sp>
        <p:nvSpPr>
          <p:cNvPr id="22" name="Text 19"/>
          <p:cNvSpPr/>
          <p:nvPr/>
        </p:nvSpPr>
        <p:spPr>
          <a:xfrm>
            <a:off x="365745" y="4634657"/>
            <a:ext cx="2200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Starbucks Sales Analysis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7218759" y="4634657"/>
            <a:ext cx="20844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time</a:t>
            </a:r>
            <a:endParaRPr lang="en-US" sz="108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507483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2026-08-28T16:23:21Z</dcterms:created>
  <dcterms:modified xsi:type="dcterms:W3CDTF">2026-08-28T16:23:21Z</dcterms:modified>
</cp:coreProperties>
</file>